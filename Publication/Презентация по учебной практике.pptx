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9" r:id="rId1"/>
  </p:sldMasterIdLst>
  <p:sldIdLst>
    <p:sldId id="256" r:id="rId2"/>
    <p:sldId id="257" r:id="rId3"/>
    <p:sldId id="261" r:id="rId4"/>
    <p:sldId id="276" r:id="rId5"/>
    <p:sldId id="26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B2E7"/>
    <a:srgbClr val="D99816"/>
    <a:srgbClr val="FFFAF0"/>
    <a:srgbClr val="123B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752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622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89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750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9947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4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944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439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15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977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333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851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" y="2064183"/>
            <a:ext cx="12192000" cy="1540482"/>
          </a:xfrm>
          <a:solidFill>
            <a:srgbClr val="48B2E7"/>
          </a:solidFill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XO Courser" panose="02070309020205020404" pitchFamily="49" charset="0"/>
                <a:ea typeface="+mn-ea"/>
                <a:cs typeface="+mn-cs"/>
              </a:rPr>
              <a:t>Приложение </a:t>
            </a:r>
            <a:r>
              <a:rPr lang="ru-RU" sz="3600" b="1" dirty="0" err="1">
                <a:solidFill>
                  <a:schemeClr val="bg1"/>
                </a:solidFill>
                <a:latin typeface="XO Courser" panose="02070309020205020404" pitchFamily="49" charset="0"/>
                <a:ea typeface="+mn-ea"/>
                <a:cs typeface="+mn-cs"/>
              </a:rPr>
              <a:t>ShoeStore</a:t>
            </a:r>
            <a:r>
              <a:rPr lang="ru-RU" sz="3600" b="1" dirty="0">
                <a:solidFill>
                  <a:schemeClr val="bg1"/>
                </a:solidFill>
                <a:latin typeface="XO Courser" panose="02070309020205020404" pitchFamily="49" charset="0"/>
                <a:ea typeface="+mn-ea"/>
                <a:cs typeface="+mn-cs"/>
              </a:rPr>
              <a:t>  </a:t>
            </a:r>
            <a:br>
              <a:rPr lang="ru-RU" sz="3600" b="1" dirty="0">
                <a:solidFill>
                  <a:schemeClr val="bg1"/>
                </a:solidFill>
                <a:latin typeface="XO Courser" panose="02070309020205020404" pitchFamily="49" charset="0"/>
                <a:ea typeface="+mn-ea"/>
                <a:cs typeface="+mn-cs"/>
              </a:rPr>
            </a:br>
            <a:endParaRPr lang="ru-RU" sz="3600" b="1" dirty="0">
              <a:solidFill>
                <a:schemeClr val="bg1"/>
              </a:solidFill>
              <a:latin typeface="XO Courser" panose="02070309020205020404" pitchFamily="49" charset="0"/>
              <a:ea typeface="+mn-ea"/>
              <a:cs typeface="+mn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202935"/>
            <a:ext cx="666920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1600" dirty="0">
                <a:latin typeface="XO Courser" panose="02070309020205020404" pitchFamily="49" charset="0"/>
              </a:rPr>
              <a:t>Министерство образования и науки Нижегородской области</a:t>
            </a:r>
          </a:p>
          <a:p>
            <a:pPr algn="ctr">
              <a:spcAft>
                <a:spcPts val="0"/>
              </a:spcAft>
            </a:pPr>
            <a:r>
              <a:rPr lang="ru-RU" sz="1600" dirty="0">
                <a:latin typeface="XO Courser" panose="02070309020205020404" pitchFamily="49" charset="0"/>
              </a:rPr>
              <a:t>Государственное бюджетное профессиональное </a:t>
            </a:r>
            <a:br>
              <a:rPr lang="ru-RU" sz="1600" dirty="0">
                <a:latin typeface="XO Courser" panose="02070309020205020404" pitchFamily="49" charset="0"/>
              </a:rPr>
            </a:br>
            <a:r>
              <a:rPr lang="ru-RU" sz="1600" dirty="0">
                <a:latin typeface="XO Courser" panose="02070309020205020404" pitchFamily="49" charset="0"/>
              </a:rPr>
              <a:t>образовательное учреждение</a:t>
            </a:r>
          </a:p>
          <a:p>
            <a:pPr algn="ctr">
              <a:spcAft>
                <a:spcPts val="0"/>
              </a:spcAft>
            </a:pPr>
            <a:r>
              <a:rPr lang="ru-RU" sz="1600" dirty="0">
                <a:latin typeface="XO Courser" panose="02070309020205020404" pitchFamily="49" charset="0"/>
              </a:rPr>
              <a:t> «Заволжский автомоторный техникум»</a:t>
            </a:r>
          </a:p>
          <a:p>
            <a:pPr algn="ctr">
              <a:spcAft>
                <a:spcPts val="0"/>
              </a:spcAft>
            </a:pPr>
            <a:r>
              <a:rPr lang="ru-RU" sz="1600" dirty="0">
                <a:latin typeface="XO Courser" panose="02070309020205020404" pitchFamily="49" charset="0"/>
              </a:rPr>
              <a:t>(ГБПОУ ЗАМТ)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313217" y="6026360"/>
            <a:ext cx="1922084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sz="1600" dirty="0">
                <a:latin typeface="XO Courser" panose="02070309020205020404" pitchFamily="49" charset="0"/>
              </a:rPr>
              <a:t>г. 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sz="1600" dirty="0">
                <a:latin typeface="XO Courser" panose="02070309020205020404" pitchFamily="49" charset="0"/>
              </a:rPr>
              <a:t>2025</a:t>
            </a:r>
          </a:p>
        </p:txBody>
      </p:sp>
      <p:sp>
        <p:nvSpPr>
          <p:cNvPr id="8" name="Подзаголовок 7">
            <a:extLst>
              <a:ext uri="{FF2B5EF4-FFF2-40B4-BE49-F238E27FC236}">
                <a16:creationId xmlns:a16="http://schemas.microsoft.com/office/drawing/2014/main" id="{CFBC1EA6-269F-47B1-BD4E-C4D5EF8D0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982" y="3834946"/>
            <a:ext cx="9144000" cy="1655762"/>
          </a:xfrm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latin typeface="XO Courser" panose="02070309020205020404" pitchFamily="49" charset="0"/>
              </a:rPr>
              <a:t>Презентацию подготовила: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latin typeface="XO Courser" panose="02070309020205020404" pitchFamily="49" charset="0"/>
              </a:rPr>
              <a:t>Карасева Виктория Игоревна</a:t>
            </a:r>
          </a:p>
          <a:p>
            <a:pPr algn="l"/>
            <a:r>
              <a:rPr lang="ru-RU" baseline="0" dirty="0">
                <a:latin typeface="XO Courser" panose="02070309020205020404" pitchFamily="49" charset="0"/>
              </a:rPr>
              <a:t>Студентка группы ИС-22А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0534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95238"/>
            <a:ext cx="12192000" cy="758825"/>
          </a:xfrm>
          <a:solidFill>
            <a:srgbClr val="48B2E7"/>
          </a:solidFill>
        </p:spPr>
        <p:txBody>
          <a:bodyPr>
            <a:norm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XO Courser" panose="02070309020205020404" pitchFamily="49" charset="0"/>
                <a:ea typeface="+mn-ea"/>
                <a:cs typeface="+mn-cs"/>
              </a:rPr>
              <a:t>Назначение программы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6687" y="1457911"/>
            <a:ext cx="11638625" cy="5120442"/>
          </a:xfrm>
        </p:spPr>
        <p:txBody>
          <a:bodyPr>
            <a:normAutofit/>
          </a:bodyPr>
          <a:lstStyle/>
          <a:p>
            <a:pPr indent="0" algn="just">
              <a:lnSpc>
                <a:spcPct val="17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ru-RU" sz="5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A348C1-23C1-4A68-BBBE-871047B0D3CC}"/>
              </a:ext>
            </a:extLst>
          </p:cNvPr>
          <p:cNvSpPr txBox="1"/>
          <p:nvPr/>
        </p:nvSpPr>
        <p:spPr>
          <a:xfrm>
            <a:off x="417989" y="1614437"/>
            <a:ext cx="1135601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XO Courser" panose="02070309020205020404" pitchFamily="49" charset="0"/>
              </a:rPr>
              <a:t>В современном мире приложения интернет-магазинов стали неотъемлемой частью повседневной жизни. Мы покупаем через смартфон всё — от продуктов до одежды, от техники до спортивных товаров. Это больше не просто удобство, а привычный способ совершать покупки, сравнивать товары и управлять личными предпочтениями.</a:t>
            </a:r>
            <a:br>
              <a:rPr lang="ru-RU" sz="2400" dirty="0">
                <a:latin typeface="XO Courser" panose="02070309020205020404" pitchFamily="49" charset="0"/>
              </a:rPr>
            </a:br>
            <a:endParaRPr lang="ru-RU" sz="2400" dirty="0">
              <a:latin typeface="XO Courser" panose="02070309020205020404" pitchFamily="49" charset="0"/>
            </a:endParaRPr>
          </a:p>
          <a:p>
            <a:pPr algn="just"/>
            <a:r>
              <a:rPr lang="ru-RU" sz="2400" dirty="0">
                <a:latin typeface="XO Courser" panose="02070309020205020404" pitchFamily="49" charset="0"/>
              </a:rPr>
              <a:t>Моей главной задачей стала разработка мобильного приложения для интернет-магазина кроссовок, которое позволит пользователям удобно просматривать каталог товаров и управлять своим профилем. </a:t>
            </a:r>
          </a:p>
        </p:txBody>
      </p:sp>
    </p:spTree>
    <p:extLst>
      <p:ext uri="{BB962C8B-B14F-4D97-AF65-F5344CB8AC3E}">
        <p14:creationId xmlns:p14="http://schemas.microsoft.com/office/powerpoint/2010/main" val="3950111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48B2E7"/>
          </a:solidFill>
        </p:spPr>
        <p:txBody>
          <a:bodyPr>
            <a:norm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XO Courser" panose="02070309020205020404" pitchFamily="49" charset="0"/>
                <a:ea typeface="+mn-ea"/>
                <a:cs typeface="+mn-cs"/>
              </a:rPr>
              <a:t>Диаграмма вариантов использования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2C68AEF-631C-481F-A10F-6EA541748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753" y="1792672"/>
            <a:ext cx="5995757" cy="430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465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0" y="450849"/>
            <a:ext cx="12168000" cy="756000"/>
          </a:xfrm>
          <a:prstGeom prst="rect">
            <a:avLst/>
          </a:prstGeom>
          <a:solidFill>
            <a:srgbClr val="48B2E7"/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dirty="0">
                <a:solidFill>
                  <a:schemeClr val="bg1"/>
                </a:solidFill>
                <a:latin typeface="XO Courser" panose="02070309020205020404" pitchFamily="49" charset="0"/>
                <a:ea typeface="+mn-ea"/>
                <a:cs typeface="+mn-cs"/>
              </a:rPr>
              <a:t>Используемые архитектурные решения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3CC312-1FD9-4CD0-9544-A3C61EA1A060}"/>
              </a:ext>
            </a:extLst>
          </p:cNvPr>
          <p:cNvSpPr txBox="1"/>
          <p:nvPr/>
        </p:nvSpPr>
        <p:spPr>
          <a:xfrm>
            <a:off x="339940" y="1585984"/>
            <a:ext cx="1151211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XO Courser" panose="02070309020205020404" pitchFamily="49" charset="0"/>
              </a:rPr>
              <a:t>Приложение построено по принципу MVVM. Это современный подход, который Google рекомендует для </a:t>
            </a:r>
            <a:r>
              <a:rPr lang="ru-RU" sz="2400" dirty="0" err="1">
                <a:latin typeface="XO Courser" panose="02070309020205020404" pitchFamily="49" charset="0"/>
              </a:rPr>
              <a:t>Android</a:t>
            </a:r>
            <a:r>
              <a:rPr lang="ru-RU" sz="2400" dirty="0">
                <a:latin typeface="XO Courser" panose="02070309020205020404" pitchFamily="49" charset="0"/>
              </a:rPr>
              <a:t>-разработки. </a:t>
            </a:r>
          </a:p>
          <a:p>
            <a:pPr algn="just"/>
            <a:endParaRPr lang="ru-RU" sz="2400" dirty="0">
              <a:latin typeface="XO Courser" panose="02070309020205020404" pitchFamily="49" charset="0"/>
            </a:endParaRPr>
          </a:p>
          <a:p>
            <a:pPr algn="just"/>
            <a:r>
              <a:rPr lang="ru-RU" sz="2400" dirty="0">
                <a:latin typeface="XO Courser" panose="02070309020205020404" pitchFamily="49" charset="0"/>
              </a:rPr>
              <a:t>Главная цель MVVM — разделение ответственности между тремя основными компонентами, что делает код более тестируемым, гибким и легко читаемым. Он состоит из: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XO Courser" panose="02070309020205020404" pitchFamily="49" charset="0"/>
              </a:rPr>
              <a:t>UI-</a:t>
            </a:r>
            <a:r>
              <a:rPr lang="ru-RU" sz="2400" dirty="0">
                <a:latin typeface="XO Courser" panose="02070309020205020404" pitchFamily="49" charset="0"/>
              </a:rPr>
              <a:t>слоя: то, что видит и с чем взаимодействует пользователь;</a:t>
            </a:r>
          </a:p>
          <a:p>
            <a:pPr marL="457200" indent="-457200" algn="just">
              <a:buAutoNum type="arabicPeriod"/>
            </a:pPr>
            <a:r>
              <a:rPr lang="en-US" sz="2400" dirty="0" err="1">
                <a:latin typeface="XO Courser" panose="02070309020205020404" pitchFamily="49" charset="0"/>
              </a:rPr>
              <a:t>ViewModel</a:t>
            </a:r>
            <a:r>
              <a:rPr lang="ru-RU" sz="2400" dirty="0">
                <a:latin typeface="XO Courser" panose="02070309020205020404" pitchFamily="49" charset="0"/>
              </a:rPr>
              <a:t>:</a:t>
            </a:r>
            <a:r>
              <a:rPr lang="en-US" sz="2400" dirty="0">
                <a:latin typeface="XO Courser" panose="02070309020205020404" pitchFamily="49" charset="0"/>
              </a:rPr>
              <a:t> </a:t>
            </a:r>
            <a:r>
              <a:rPr lang="ru-RU" sz="2400" dirty="0">
                <a:latin typeface="XO Courser" panose="02070309020205020404" pitchFamily="49" charset="0"/>
              </a:rPr>
              <a:t>хранит и управляет состоянием, необходимым для отображения текущего экрана; 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latin typeface="XO Courser" panose="02070309020205020404" pitchFamily="49" charset="0"/>
              </a:rPr>
              <a:t>Слой бизнес-логики: правила, по которым работают данные.</a:t>
            </a:r>
          </a:p>
        </p:txBody>
      </p:sp>
    </p:spTree>
    <p:extLst>
      <p:ext uri="{BB962C8B-B14F-4D97-AF65-F5344CB8AC3E}">
        <p14:creationId xmlns:p14="http://schemas.microsoft.com/office/powerpoint/2010/main" val="1036956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48B2E7"/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dirty="0">
                <a:solidFill>
                  <a:schemeClr val="bg1"/>
                </a:solidFill>
                <a:latin typeface="XO Courser" panose="02070309020205020404" pitchFamily="49" charset="0"/>
                <a:ea typeface="+mn-ea"/>
                <a:cs typeface="+mn-cs"/>
              </a:rPr>
              <a:t>Используемые библиотеки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E8D4FA-9E4E-4C16-BCB9-8E397229052E}"/>
              </a:ext>
            </a:extLst>
          </p:cNvPr>
          <p:cNvSpPr txBox="1"/>
          <p:nvPr/>
        </p:nvSpPr>
        <p:spPr>
          <a:xfrm>
            <a:off x="319598" y="1586234"/>
            <a:ext cx="1168301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XO Courser" panose="02070309020205020404" pitchFamily="49" charset="0"/>
              </a:rPr>
              <a:t>UI &amp; </a:t>
            </a:r>
            <a:r>
              <a:rPr lang="ru-RU" sz="2400" b="1" dirty="0">
                <a:latin typeface="XO Courser" panose="02070309020205020404" pitchFamily="49" charset="0"/>
              </a:rPr>
              <a:t>Навигация:</a:t>
            </a:r>
          </a:p>
          <a:p>
            <a:pPr algn="just"/>
            <a:r>
              <a:rPr lang="en-US" sz="2400" dirty="0">
                <a:latin typeface="XO Courser" panose="02070309020205020404" pitchFamily="49" charset="0"/>
              </a:rPr>
              <a:t>- Jetpack Compose + Material3 – </a:t>
            </a:r>
            <a:r>
              <a:rPr lang="ru-RU" sz="2400" dirty="0">
                <a:latin typeface="XO Courser" panose="02070309020205020404" pitchFamily="49" charset="0"/>
              </a:rPr>
              <a:t>современный декларативный </a:t>
            </a:r>
            <a:r>
              <a:rPr lang="en-US" sz="2400" dirty="0">
                <a:latin typeface="XO Courser" panose="02070309020205020404" pitchFamily="49" charset="0"/>
              </a:rPr>
              <a:t>UI</a:t>
            </a:r>
          </a:p>
          <a:p>
            <a:pPr algn="just"/>
            <a:r>
              <a:rPr lang="en-US" sz="2400" dirty="0">
                <a:latin typeface="XO Courser" panose="02070309020205020404" pitchFamily="49" charset="0"/>
              </a:rPr>
              <a:t>- Navigation Compose – </a:t>
            </a:r>
            <a:r>
              <a:rPr lang="ru-RU" sz="2400" dirty="0">
                <a:latin typeface="XO Courser" panose="02070309020205020404" pitchFamily="49" charset="0"/>
              </a:rPr>
              <a:t>навигация между экранами</a:t>
            </a:r>
          </a:p>
          <a:p>
            <a:pPr algn="just"/>
            <a:r>
              <a:rPr lang="en-US" sz="2400" dirty="0">
                <a:latin typeface="XO Courser" panose="02070309020205020404" pitchFamily="49" charset="0"/>
              </a:rPr>
              <a:t>- Accompanist Pager – </a:t>
            </a:r>
            <a:r>
              <a:rPr lang="ru-RU" sz="2400" dirty="0">
                <a:latin typeface="XO Courser" panose="02070309020205020404" pitchFamily="49" charset="0"/>
              </a:rPr>
              <a:t>реализация индикаторов</a:t>
            </a:r>
            <a:endParaRPr lang="en-US" sz="2400" dirty="0">
              <a:latin typeface="XO Courser" panose="02070309020205020404" pitchFamily="49" charset="0"/>
            </a:endParaRPr>
          </a:p>
          <a:p>
            <a:pPr algn="just"/>
            <a:r>
              <a:rPr lang="ru-RU" sz="2400" b="1" dirty="0">
                <a:latin typeface="XO Courser" panose="02070309020205020404" pitchFamily="49" charset="0"/>
              </a:rPr>
              <a:t>Сеть и </a:t>
            </a:r>
            <a:r>
              <a:rPr lang="en-US" sz="2400" b="1" dirty="0">
                <a:latin typeface="XO Courser" panose="02070309020205020404" pitchFamily="49" charset="0"/>
              </a:rPr>
              <a:t>API:</a:t>
            </a:r>
          </a:p>
          <a:p>
            <a:pPr marL="342900" indent="-342900" algn="just">
              <a:buFontTx/>
              <a:buChar char="-"/>
            </a:pPr>
            <a:r>
              <a:rPr lang="en-US" sz="2400" dirty="0" err="1">
                <a:latin typeface="XO Courser" panose="02070309020205020404" pitchFamily="49" charset="0"/>
              </a:rPr>
              <a:t>Supabase</a:t>
            </a:r>
            <a:r>
              <a:rPr lang="en-US" sz="2400" dirty="0">
                <a:latin typeface="XO Courser" panose="02070309020205020404" pitchFamily="49" charset="0"/>
              </a:rPr>
              <a:t> SDK (</a:t>
            </a:r>
            <a:r>
              <a:rPr lang="en-US" sz="2400" dirty="0" err="1">
                <a:latin typeface="XO Courser" panose="02070309020205020404" pitchFamily="49" charset="0"/>
              </a:rPr>
              <a:t>PostgREST</a:t>
            </a:r>
            <a:r>
              <a:rPr lang="en-US" sz="2400" dirty="0">
                <a:latin typeface="XO Courser" panose="02070309020205020404" pitchFamily="49" charset="0"/>
              </a:rPr>
              <a:t> + </a:t>
            </a:r>
            <a:r>
              <a:rPr lang="en-US" sz="2400" dirty="0" err="1">
                <a:latin typeface="XO Courser" panose="02070309020205020404" pitchFamily="49" charset="0"/>
              </a:rPr>
              <a:t>GoTrue</a:t>
            </a:r>
            <a:r>
              <a:rPr lang="en-US" sz="2400" dirty="0">
                <a:latin typeface="XO Courser" panose="02070309020205020404" pitchFamily="49" charset="0"/>
              </a:rPr>
              <a:t>) – </a:t>
            </a:r>
            <a:r>
              <a:rPr lang="ru-RU" sz="2400" dirty="0">
                <a:latin typeface="XO Courser" panose="02070309020205020404" pitchFamily="49" charset="0"/>
              </a:rPr>
              <a:t>работа с бэкендом и авторизацией</a:t>
            </a:r>
            <a:endParaRPr lang="en-US" sz="2400" dirty="0">
              <a:latin typeface="XO Courser" panose="02070309020205020404" pitchFamily="49" charset="0"/>
            </a:endParaRPr>
          </a:p>
          <a:p>
            <a:pPr algn="just"/>
            <a:r>
              <a:rPr lang="ru-RU" sz="2400" b="1" dirty="0">
                <a:latin typeface="XO Courser" panose="02070309020205020404" pitchFamily="49" charset="0"/>
              </a:rPr>
              <a:t>Аутентификация:</a:t>
            </a:r>
          </a:p>
          <a:p>
            <a:pPr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latin typeface="XO Courser" panose="02070309020205020404" pitchFamily="49" charset="0"/>
              </a:rPr>
              <a:t>Supabase</a:t>
            </a:r>
            <a:r>
              <a:rPr lang="en-US" sz="2400" dirty="0">
                <a:latin typeface="XO Courser" panose="02070309020205020404" pitchFamily="49" charset="0"/>
              </a:rPr>
              <a:t> </a:t>
            </a:r>
            <a:r>
              <a:rPr lang="en-US" sz="2400" dirty="0" err="1">
                <a:latin typeface="XO Courser" panose="02070309020205020404" pitchFamily="49" charset="0"/>
              </a:rPr>
              <a:t>GoTrue</a:t>
            </a:r>
            <a:r>
              <a:rPr lang="en-US" sz="2400" dirty="0">
                <a:latin typeface="XO Courser" panose="02070309020205020404" pitchFamily="49" charset="0"/>
              </a:rPr>
              <a:t> – </a:t>
            </a:r>
            <a:r>
              <a:rPr lang="ru-RU" sz="2400" dirty="0">
                <a:latin typeface="XO Courser" panose="02070309020205020404" pitchFamily="49" charset="0"/>
              </a:rPr>
              <a:t>управление пользователями (регистрация, вход, сессии) </a:t>
            </a:r>
          </a:p>
          <a:p>
            <a:pPr algn="just"/>
            <a:r>
              <a:rPr lang="ru-RU" sz="2400" b="1" dirty="0">
                <a:latin typeface="XO Courser" panose="02070309020205020404" pitchFamily="49" charset="0"/>
              </a:rPr>
              <a:t>Вспомогательные:</a:t>
            </a:r>
          </a:p>
          <a:p>
            <a:pPr indent="-285750" algn="just">
              <a:buFont typeface="Arial" panose="020B0604020202020204" pitchFamily="34" charset="0"/>
              <a:buChar char="•"/>
            </a:pPr>
            <a:r>
              <a:rPr lang="en-US" sz="2400" dirty="0" err="1">
                <a:latin typeface="XO Courser" panose="02070309020205020404" pitchFamily="49" charset="0"/>
              </a:rPr>
              <a:t>OkHttp</a:t>
            </a:r>
            <a:r>
              <a:rPr lang="en-US" sz="2400" dirty="0">
                <a:latin typeface="XO Courser" panose="02070309020205020404" pitchFamily="49" charset="0"/>
              </a:rPr>
              <a:t> + Logging Interceptor – </a:t>
            </a:r>
            <a:r>
              <a:rPr lang="ru-RU" sz="2400" dirty="0">
                <a:latin typeface="XO Courser" panose="02070309020205020404" pitchFamily="49" charset="0"/>
              </a:rPr>
              <a:t>отладка сетевых запросов</a:t>
            </a:r>
          </a:p>
          <a:p>
            <a:pPr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XO Courser" panose="02070309020205020404" pitchFamily="49" charset="0"/>
              </a:rPr>
              <a:t>Splash Screen API – </a:t>
            </a:r>
            <a:r>
              <a:rPr lang="ru-RU" sz="2400" dirty="0">
                <a:latin typeface="XO Courser" panose="02070309020205020404" pitchFamily="49" charset="0"/>
              </a:rPr>
              <a:t>нативный экран загрузки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28381697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1555</TotalTime>
  <Words>273</Words>
  <Application>Microsoft Office PowerPoint</Application>
  <PresentationFormat>Широкоэкранный</PresentationFormat>
  <Paragraphs>34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XO Courser</vt:lpstr>
      <vt:lpstr>Тема Office</vt:lpstr>
      <vt:lpstr>Приложение ShoeStore   </vt:lpstr>
      <vt:lpstr>Назначение программы</vt:lpstr>
      <vt:lpstr>Диаграмма вариантов использования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Vikа Karaseva</cp:lastModifiedBy>
  <cp:revision>79</cp:revision>
  <dcterms:created xsi:type="dcterms:W3CDTF">2022-06-15T10:15:27Z</dcterms:created>
  <dcterms:modified xsi:type="dcterms:W3CDTF">2025-12-20T06:22:53Z</dcterms:modified>
</cp:coreProperties>
</file>